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7" r:id="rId11"/>
    <p:sldId id="286" r:id="rId12"/>
    <p:sldId id="28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avithra-576/Crop-recommendation-with-web-application"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717756"/>
            <a:ext cx="10515600" cy="3844720"/>
          </a:xfrm>
        </p:spPr>
        <p:txBody>
          <a:bodyPr>
            <a:normAutofit/>
          </a:bodyPr>
          <a:lstStyle/>
          <a:p>
            <a:pPr algn="ctr"/>
            <a:r>
              <a:rPr lang="en-US" sz="6600" b="1"/>
              <a:t>IBM Crop </a:t>
            </a:r>
            <a:r>
              <a:rPr lang="en-US" sz="6600" b="1" dirty="0"/>
              <a:t>Recommendation with web application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8285160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PAVITHRA S</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IN" dirty="0"/>
                    </a:p>
                    <a:p>
                      <a:pPr marL="0" marR="0" lvl="0" indent="0" algn="l" rtl="0">
                        <a:spcBef>
                          <a:spcPts val="0"/>
                        </a:spcBef>
                        <a:spcAft>
                          <a:spcPts val="0"/>
                        </a:spcAft>
                        <a:buNone/>
                      </a:pPr>
                      <a:endParaRPr lang="en-IN" dirty="0"/>
                    </a:p>
                    <a:p>
                      <a:pPr marL="0" marR="0" lvl="0" indent="0" algn="l" rtl="0">
                        <a:spcBef>
                          <a:spcPts val="0"/>
                        </a:spcBef>
                        <a:spcAft>
                          <a:spcPts val="0"/>
                        </a:spcAft>
                        <a:buNone/>
                      </a:pPr>
                      <a:r>
                        <a:rPr lang="en-IN" dirty="0"/>
                        <a:t>720823108029@hit.edu.in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99257" y="160889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Crop recommendation Agent </a:t>
            </a:r>
            <a:endParaRPr lang="en-IN" sz="2400" b="1" dirty="0">
              <a:highlight>
                <a:srgbClr val="FFFF00"/>
              </a:highlight>
            </a:endParaRPr>
          </a:p>
        </p:txBody>
      </p:sp>
      <p:pic>
        <p:nvPicPr>
          <p:cNvPr id="3" name="Picture 2">
            <a:extLst>
              <a:ext uri="{FF2B5EF4-FFF2-40B4-BE49-F238E27FC236}">
                <a16:creationId xmlns:a16="http://schemas.microsoft.com/office/drawing/2014/main" id="{7C6700C1-1CFC-3A8A-C19F-978EE06BBB3E}"/>
              </a:ext>
            </a:extLst>
          </p:cNvPr>
          <p:cNvPicPr>
            <a:picLocks noChangeAspect="1"/>
          </p:cNvPicPr>
          <p:nvPr/>
        </p:nvPicPr>
        <p:blipFill>
          <a:blip r:embed="rId3">
            <a:extLst>
              <a:ext uri="{BEBA8EAE-BF5A-486C-A8C5-ECC9F3942E4B}">
                <a14:imgProps xmlns:a14="http://schemas.microsoft.com/office/drawing/2010/main">
                  <a14:imgLayer r:embed="rId4">
                    <a14:imgEffect>
                      <a14:saturation sat="66000"/>
                    </a14:imgEffect>
                  </a14:imgLayer>
                </a14:imgProps>
              </a:ext>
            </a:extLst>
          </a:blip>
          <a:stretch>
            <a:fillRect/>
          </a:stretch>
        </p:blipFill>
        <p:spPr>
          <a:xfrm>
            <a:off x="3944533" y="3700997"/>
            <a:ext cx="1010925" cy="9236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693866"/>
          </a:xfrm>
          <a:prstGeom prst="rect">
            <a:avLst/>
          </a:prstGeom>
          <a:noFill/>
        </p:spPr>
        <p:txBody>
          <a:bodyPr wrap="square" rtlCol="0">
            <a:spAutoFit/>
          </a:bodyPr>
          <a:lstStyle/>
          <a:p>
            <a:r>
              <a:rPr lang="en-IN" b="1" dirty="0"/>
              <a:t>Problem Statement: Crop Recommendation Agent</a:t>
            </a:r>
            <a:endParaRPr lang="en-IN" dirty="0"/>
          </a:p>
          <a:p>
            <a:r>
              <a:rPr lang="en-IN" b="1" dirty="0"/>
              <a:t>The Challenge</a:t>
            </a:r>
            <a:endParaRPr lang="en-IN" dirty="0"/>
          </a:p>
          <a:p>
            <a:r>
              <a:rPr lang="en-IN" dirty="0"/>
              <a:t>Farmers often struggle to decide which crops to grow due to varying soil conditions, unpredictable weather, water availability, and fluctuating market demand. Information about soil health, climate patterns, crop suitability, and best agricultural practices is scattered across unreliable or outdated sources. Without personalized, real-time guidance, many farmers face poor yields, resource wastage, and reduced profitability.</a:t>
            </a:r>
          </a:p>
          <a:p>
            <a:r>
              <a:rPr lang="en-IN" b="1" dirty="0"/>
              <a:t>The Objective</a:t>
            </a:r>
            <a:endParaRPr lang="en-IN" dirty="0"/>
          </a:p>
          <a:p>
            <a:r>
              <a:rPr lang="en-IN" dirty="0"/>
              <a:t>Build an AI-powered Crop Recommendation Agent that delivers personalized farming insights and guidance for farmers, agricultural cooperatives, and agronomists. The solution should:</a:t>
            </a:r>
          </a:p>
          <a:p>
            <a:r>
              <a:rPr lang="en-IN" b="1" dirty="0"/>
              <a:t>Personalized Crop Plans</a:t>
            </a:r>
            <a:r>
              <a:rPr lang="en-IN" dirty="0"/>
              <a:t> – Recommend crops based on soil type, pH, nutrient levels (N, P, K), rainfall, temperature, season, and land size.</a:t>
            </a:r>
          </a:p>
          <a:p>
            <a:r>
              <a:rPr lang="en-IN" b="1" dirty="0"/>
              <a:t>Soil &amp; Climate Data RAG Retrieval</a:t>
            </a:r>
            <a:r>
              <a:rPr lang="en-IN" dirty="0"/>
              <a:t> – Fetch and summarize soil composition, weather forecasts, and market price data from reliable agricultural sources.</a:t>
            </a:r>
          </a:p>
          <a:p>
            <a:r>
              <a:rPr lang="en-IN" b="1" dirty="0"/>
              <a:t>Field Monitoring &amp; Feedback</a:t>
            </a:r>
            <a:r>
              <a:rPr lang="en-IN" dirty="0"/>
              <a:t> – Allow farmers to log field conditions via text, images (soil/crop photos), or voice, and provide instant analysis on crop health and growth stage.</a:t>
            </a:r>
          </a:p>
          <a:p>
            <a:r>
              <a:rPr lang="en-IN" b="1" dirty="0"/>
              <a:t>Preventive Farming Focus</a:t>
            </a:r>
            <a:r>
              <a:rPr lang="en-IN" dirty="0"/>
              <a:t> – Suggest crop rotation plans, pest/disease management, and sustainable farming practices to protect long-term soil health.</a:t>
            </a:r>
          </a:p>
          <a:p>
            <a:r>
              <a:rPr lang="en-IN" b="1" dirty="0"/>
              <a:t>Multi-Agent System</a:t>
            </a:r>
            <a:r>
              <a:rPr lang="en-IN" dirty="0"/>
              <a:t> – </a:t>
            </a:r>
          </a:p>
          <a:p>
            <a:pPr lvl="1"/>
            <a:r>
              <a:rPr lang="en-IN" b="1" dirty="0"/>
              <a:t>Soil &amp; Climate Knowledge Agent</a:t>
            </a:r>
            <a:r>
              <a:rPr lang="en-IN" dirty="0"/>
              <a:t> (fetches soil, weather, and market data)</a:t>
            </a:r>
          </a:p>
          <a:p>
            <a:pPr lvl="1"/>
            <a:r>
              <a:rPr lang="en-IN" b="1" dirty="0"/>
              <a:t>Crop Recommendation Agent</a:t>
            </a:r>
            <a:r>
              <a:rPr lang="en-IN" dirty="0"/>
              <a:t> (personalized crop suggestions based on land and conditions)</a:t>
            </a:r>
          </a:p>
          <a:p>
            <a:pPr lvl="1"/>
            <a:r>
              <a:rPr lang="en-IN" b="1" dirty="0"/>
              <a:t>Farming Advisory Agent</a:t>
            </a:r>
            <a:r>
              <a:rPr lang="en-IN" dirty="0"/>
              <a:t> (preventive pest, disease, and sustainability suggestions)</a:t>
            </a:r>
          </a:p>
          <a:p>
            <a:pPr lvl="1"/>
            <a:r>
              <a:rPr lang="en-IN" b="1" dirty="0"/>
              <a:t>Field Log &amp; Feedback Agent</a:t>
            </a:r>
            <a:r>
              <a:rPr lang="en-IN" dirty="0"/>
              <a:t> (crop/field tracking and yield analysis)</a:t>
            </a:r>
          </a:p>
          <a:p>
            <a:r>
              <a:rPr lang="en-IN" b="1" dirty="0"/>
              <a:t>Visualization Dashboard</a:t>
            </a:r>
            <a:r>
              <a:rPr lang="en-IN" dirty="0"/>
              <a:t> – Show soil health trends, predicted yield, seasonal crop performance, and progress toward sustainable farming goals.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832092"/>
          </a:xfrm>
          <a:prstGeom prst="rect">
            <a:avLst/>
          </a:prstGeom>
          <a:noFill/>
        </p:spPr>
        <p:txBody>
          <a:bodyPr wrap="square" rtlCol="0">
            <a:spAutoFit/>
          </a:bodyPr>
          <a:lstStyle/>
          <a:p>
            <a:pPr fontAlgn="base"/>
            <a:endParaRPr lang="en-US" b="1" dirty="0"/>
          </a:p>
          <a:p>
            <a:r>
              <a:rPr lang="en-IN" dirty="0"/>
              <a:t>The proposed solution is a multi-agent AI-powered Crop Recommendation Agent built using </a:t>
            </a:r>
            <a:r>
              <a:rPr lang="en-IN" dirty="0" err="1"/>
              <a:t>LangFlow</a:t>
            </a:r>
            <a:r>
              <a:rPr lang="en-IN" dirty="0"/>
              <a:t>, IBM watsonx.ai, and Granite Models to provide personalized, real-time agricultural guidance. The system addresses challenges in crop selection, soil management, and preventive farming through an intelligent, modular architecture.</a:t>
            </a:r>
          </a:p>
          <a:p>
            <a:r>
              <a:rPr lang="en-IN" dirty="0"/>
              <a:t>At its core, the solution uses a Retrieval-Augmented Generation (RAG) pipeline to fetch accurate agricultural data from trusted sources such as government agricultural databases, soil health surveys, and weather/climate datasets. This data is embedded and stored in a vector database, enabling the system to retrieve and summarize soil composition, climate patterns, and crop suitability details using Granite models.</a:t>
            </a:r>
          </a:p>
          <a:p>
            <a:r>
              <a:rPr lang="en-IN" dirty="0"/>
              <a:t>The system consists of four key agents:</a:t>
            </a:r>
          </a:p>
          <a:p>
            <a:r>
              <a:rPr lang="en-IN" b="1" dirty="0"/>
              <a:t>Soil &amp; Climate Knowledge Agent</a:t>
            </a:r>
            <a:r>
              <a:rPr lang="en-IN" dirty="0"/>
              <a:t> retrieves and summarizes soil, weather, and market data using RAG.</a:t>
            </a:r>
          </a:p>
          <a:p>
            <a:r>
              <a:rPr lang="en-IN" b="1" dirty="0"/>
              <a:t>Crop Recommendation Agent</a:t>
            </a:r>
            <a:r>
              <a:rPr lang="en-IN" dirty="0"/>
              <a:t> generates personalized crop suggestions based on user inputs such as soil type, pH, nutrient levels (N, P, K), rainfall, temperature, and land size.</a:t>
            </a:r>
          </a:p>
          <a:p>
            <a:r>
              <a:rPr lang="en-IN" b="1" dirty="0"/>
              <a:t>Farming Advisory Agent</a:t>
            </a:r>
            <a:r>
              <a:rPr lang="en-IN" dirty="0"/>
              <a:t> provides preventive farming suggestions, including crop rotation plans, pest/disease management, and sustainable soil practices.</a:t>
            </a:r>
          </a:p>
          <a:p>
            <a:r>
              <a:rPr lang="en-IN" b="1" dirty="0"/>
              <a:t>Field Log &amp; Feedback Agent</a:t>
            </a:r>
            <a:r>
              <a:rPr lang="en-IN" dirty="0"/>
              <a:t> allows farmers to log field conditions via text, voice, or images and delivers instant analysis with actionable feedback on crop health and growth.</a:t>
            </a:r>
          </a:p>
          <a:p>
            <a:r>
              <a:rPr lang="en-IN" dirty="0"/>
              <a:t>The solution includes a user-friendly dashboard (built with </a:t>
            </a:r>
            <a:r>
              <a:rPr lang="en-IN" dirty="0" err="1"/>
              <a:t>Streamlit</a:t>
            </a:r>
            <a:r>
              <a:rPr lang="en-IN" dirty="0"/>
              <a:t> or React) that visualizes soil health trends, predicted yields, seasonal crop performance, and progress toward sustainable farming goals.</a:t>
            </a:r>
          </a:p>
          <a:p>
            <a:r>
              <a:rPr lang="en-IN" dirty="0" err="1"/>
              <a:t>LangFlow</a:t>
            </a:r>
            <a:r>
              <a:rPr lang="en-IN" dirty="0"/>
              <a:t> is used to orchestrate agent workflows, while watsonx.ai ensures scalable model deployment, embeddings, and AI governance. Granite models power reasoning, summarization, and personalization.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585871"/>
          </a:xfrm>
          <a:prstGeom prst="rect">
            <a:avLst/>
          </a:prstGeom>
          <a:noFill/>
        </p:spPr>
        <p:txBody>
          <a:bodyPr wrap="square" rtlCol="0">
            <a:spAutoFit/>
          </a:bodyPr>
          <a:lstStyle/>
          <a:p>
            <a:endParaRPr lang="en-US" dirty="0"/>
          </a:p>
          <a:p>
            <a:r>
              <a:rPr lang="en-IN" sz="1600" b="1" dirty="0"/>
              <a:t>Chat Input</a:t>
            </a:r>
            <a:r>
              <a:rPr lang="en-IN" sz="1600" dirty="0"/>
              <a:t> – Interface where users (farmers) enter their queries, soil details, or field conditions (text/voice/image). </a:t>
            </a:r>
          </a:p>
          <a:p>
            <a:r>
              <a:rPr lang="en-IN" sz="1600" b="1" dirty="0"/>
              <a:t>IBM </a:t>
            </a:r>
            <a:r>
              <a:rPr lang="en-IN" sz="1600" b="1" dirty="0" err="1"/>
              <a:t>watsonx</a:t>
            </a:r>
            <a:r>
              <a:rPr lang="en-IN" sz="1600" b="1" dirty="0"/>
              <a:t> AI Agent</a:t>
            </a:r>
            <a:r>
              <a:rPr lang="en-IN" sz="1600" dirty="0"/>
              <a:t> – Processes user input using Granite models to generate personalized crop recommendations and farming insights. </a:t>
            </a:r>
          </a:p>
          <a:p>
            <a:r>
              <a:rPr lang="en-IN" sz="1600" b="1" dirty="0"/>
              <a:t>Name of IBM Granite model</a:t>
            </a:r>
            <a:r>
              <a:rPr lang="en-IN" sz="1600" dirty="0"/>
              <a:t> – Granite-4.0-8B-Instruct → Fast, efficient for real-time crop recommendations. </a:t>
            </a:r>
          </a:p>
          <a:p>
            <a:r>
              <a:rPr lang="en-IN" sz="1600" b="1" dirty="0"/>
              <a:t>Chat Output</a:t>
            </a:r>
            <a:r>
              <a:rPr lang="en-IN" sz="1600" dirty="0"/>
              <a:t> – Displays AI-generated responses such as recommended crops, soil health analysis, and farming suggestions. </a:t>
            </a:r>
          </a:p>
          <a:p>
            <a:r>
              <a:rPr lang="en-IN" sz="1600" b="1" dirty="0"/>
              <a:t>File Component</a:t>
            </a:r>
            <a:r>
              <a:rPr lang="en-IN" sz="1600" dirty="0"/>
              <a:t> – Stores and retrieves user data, field logs, soil reports, and crop datasets for analysis and tracking.</a:t>
            </a:r>
          </a:p>
          <a:p>
            <a:r>
              <a:rPr lang="en-IN" sz="1600" dirty="0"/>
              <a:t> </a:t>
            </a:r>
            <a:r>
              <a:rPr lang="en-IN" sz="1600" b="1" dirty="0"/>
              <a:t>Additional Component</a:t>
            </a:r>
            <a:r>
              <a:rPr lang="en-IN" sz="1600" dirty="0"/>
              <a:t> – Weather API Integration – Fetches real-time and forecasted climate data (rainfall, temperature, humidity) to refine crop suitability recommendations.</a:t>
            </a:r>
            <a:endParaRPr lang="en-US" sz="1600" dirty="0"/>
          </a:p>
          <a:p>
            <a:endParaRPr lang="en-US" sz="1600"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4" name="Picture 3">
            <a:extLst>
              <a:ext uri="{FF2B5EF4-FFF2-40B4-BE49-F238E27FC236}">
                <a16:creationId xmlns:a16="http://schemas.microsoft.com/office/drawing/2014/main" id="{DA1E9D65-A042-708B-BCE3-D834CC756324}"/>
              </a:ext>
            </a:extLst>
          </p:cNvPr>
          <p:cNvPicPr>
            <a:picLocks noChangeAspect="1"/>
          </p:cNvPicPr>
          <p:nvPr/>
        </p:nvPicPr>
        <p:blipFill>
          <a:blip r:embed="rId3"/>
          <a:stretch>
            <a:fillRect/>
          </a:stretch>
        </p:blipFill>
        <p:spPr>
          <a:xfrm>
            <a:off x="464439" y="1066220"/>
            <a:ext cx="11469656" cy="5544892"/>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IN" dirty="0"/>
              <a:t>Agentic AI enables the Crop Recommendation Agent to function as an intelligent, autonomous system rather than a simple chatbot. Using IBM watsonx.ai and IBM Granite models, it coordinates multiple specialized agents to deliver personalized farming guidance.</a:t>
            </a:r>
          </a:p>
          <a:p>
            <a:r>
              <a:rPr lang="en-IN" dirty="0"/>
              <a:t>Each agent performs a specific role—such as retrieving soil and climate data, generating crop recommendations, providing farming advisory, and </a:t>
            </a:r>
            <a:r>
              <a:rPr lang="en-IN" dirty="0" err="1"/>
              <a:t>analyzing</a:t>
            </a:r>
            <a:r>
              <a:rPr lang="en-IN" dirty="0"/>
              <a:t> field logs—while working collaboratively. This multi-agent approach ensures efficient task execution and accurate results.</a:t>
            </a:r>
          </a:p>
          <a:p>
            <a:r>
              <a:rPr lang="en-IN" dirty="0"/>
              <a:t>Agentic AI also brings context awareness, understanding field details like soil type, location, season, and water availability to generate tailored recommendations. It supports real-time adaptation, continuously updating suggestions based on user inputs like field conditions and weather changes.</a:t>
            </a:r>
          </a:p>
          <a:p>
            <a:r>
              <a:rPr lang="en-IN" dirty="0"/>
              <a:t>Additionally, agents communicate with each other, enabling better decision-making and improved outcomes.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dirty="0">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966887"/>
            <a:ext cx="481515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821682" y="1236505"/>
            <a:ext cx="9217053" cy="5016758"/>
          </a:xfrm>
          <a:prstGeom prst="rect">
            <a:avLst/>
          </a:prstGeom>
          <a:noFill/>
        </p:spPr>
        <p:txBody>
          <a:bodyPr wrap="square" rtlCol="0">
            <a:spAutoFit/>
          </a:bodyPr>
          <a:lstStyle/>
          <a:p>
            <a:r>
              <a:rPr lang="en-IN" sz="1800" dirty="0"/>
              <a:t>Agentic AI enables the Crop Recommendation Agent to function as an intelligent, autonomous system rather than a simple chatbot. Using IBM watsonx.ai and IBM Granite models, it coordinates multiple specialized agents to deliver personalized farming guidance.</a:t>
            </a:r>
          </a:p>
          <a:p>
            <a:r>
              <a:rPr lang="en-IN" sz="1800" dirty="0"/>
              <a:t>Each agent performs a specific role—such as retrieving soil and climate data, generating crop recommendations, providing farming advisory, and </a:t>
            </a:r>
            <a:r>
              <a:rPr lang="en-IN" sz="1800" dirty="0" err="1"/>
              <a:t>analyzing</a:t>
            </a:r>
            <a:r>
              <a:rPr lang="en-IN" sz="1800" dirty="0"/>
              <a:t> field logs—while working collaboratively. This multi-agent approach ensures efficient task execution and accurate results.</a:t>
            </a:r>
          </a:p>
          <a:p>
            <a:r>
              <a:rPr lang="en-IN" sz="1800" dirty="0"/>
              <a:t>Agentic AI also brings context awareness, understanding field details like soil type, location, season, and water availability to generate tailored recommendations. It supports real-time adaptation, continuously updating suggestions based on user inputs like field conditions and weather changes.</a:t>
            </a:r>
          </a:p>
          <a:p>
            <a:r>
              <a:rPr lang="en-IN" sz="1800" dirty="0"/>
              <a:t>Additionally, agents communicate with each other, enabling better decision-making and improved outcomes.</a:t>
            </a:r>
          </a:p>
          <a:p>
            <a:r>
              <a:rPr lang="en-IN" sz="1800" dirty="0"/>
              <a:t>Overall, Agentic AI makes the system proactive, personalized, and goal-driven, acting like a smart digital agronomist that helps farmers maximize yield and maintain sustainable farming practices.</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NAME : PAVITHRA S </a:t>
            </a:r>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LINK: </a:t>
            </a:r>
            <a:r>
              <a:rPr lang="en-US" sz="1850" dirty="0">
                <a:solidFill>
                  <a:srgbClr val="2B3541"/>
                </a:solidFill>
                <a:latin typeface="Times New Roman"/>
                <a:ea typeface="Times New Roman"/>
                <a:cs typeface="Times New Roman"/>
                <a:sym typeface="Times New Roman"/>
                <a:hlinkClick r:id="rId3"/>
              </a:rPr>
              <a:t>https://github.com/pavithra-576/Crop-recommendation-with-web-application</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1850" b="1" i="0" u="none" strike="noStrike" cap="none" dirty="0">
                <a:solidFill>
                  <a:srgbClr val="2B3541"/>
                </a:solidFill>
                <a:latin typeface="Times New Roman"/>
                <a:ea typeface="Times New Roman"/>
                <a:cs typeface="Times New Roman"/>
                <a:sym typeface="Times New Roman"/>
              </a:rPr>
              <a:t>1.</a:t>
            </a:r>
            <a:r>
              <a:rPr lang="en-IN" sz="2000" b="1" dirty="0"/>
              <a:t>Integration with IoT &amp; Field Sensors</a:t>
            </a:r>
            <a:r>
              <a:rPr lang="en-IN" sz="2000" dirty="0"/>
              <a:t> – The system can be integrated with soil sensors, drones, and weather stations to collect real-time data such as soil moisture, temperature, humidity, and nutrient levels. This will enable the Crop Recommendation Agent to provide more accurate and dynamic farming recommendations based on actual field conditions.</a:t>
            </a:r>
          </a:p>
          <a:p>
            <a:endParaRPr lang="en-IN" sz="2000" dirty="0"/>
          </a:p>
          <a:p>
            <a:r>
              <a:rPr lang="en-IN" sz="2000" b="1" dirty="0"/>
              <a:t>2.AI-Powered Voice Assistant &amp; Multilingual Support</a:t>
            </a:r>
            <a:r>
              <a:rPr lang="en-IN" sz="2000" dirty="0"/>
              <a:t> – Enhancing the system with a voice-enabled assistant and support for multiple regional languages will improve accessibility. Farmers can interact naturally in their preferred language, making the solution more inclusive and suitable for diverse rural populations with varied linguistic backgrounds.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1248</TotalTime>
  <Words>1334</Words>
  <Application>Microsoft Office PowerPoint</Application>
  <PresentationFormat>Widescreen</PresentationFormat>
  <Paragraphs>100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Crop Recommendation with web application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Pavithra S</cp:lastModifiedBy>
  <cp:revision>43</cp:revision>
  <dcterms:created xsi:type="dcterms:W3CDTF">2025-07-08T05:06:56Z</dcterms:created>
  <dcterms:modified xsi:type="dcterms:W3CDTF">2026-06-14T04:30:41Z</dcterms:modified>
</cp:coreProperties>
</file>